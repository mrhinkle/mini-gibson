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9ae27b1037451e" /><Relationship Type="http://schemas.openxmlformats.org/officeDocument/2006/relationships/extended-properties" Target="/docProps/app.xml" Id="R034141b7e68441b4" /><Relationship Type="http://schemas.openxmlformats.org/officeDocument/2006/relationships/officeDocument" Target="/ppt/presentation.xml" Id="R4d692e66ff3c43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e6bb3b31764994"/>
  </p:sldMasterIdLst>
  <p:notesMasterIdLst>
    <p:notesMasterId xmlns:r="http://schemas.openxmlformats.org/officeDocument/2006/relationships" r:id="R6be425e6b9104363"/>
  </p:notesMasterIdLst>
  <p:sldIdLst>
    <p:sldId xmlns:r="http://schemas.openxmlformats.org/officeDocument/2006/relationships" id="256" r:id="R5156c8df373543df"/>
    <p:sldId xmlns:r="http://schemas.openxmlformats.org/officeDocument/2006/relationships" id="257" r:id="R75297d17ebea416c"/>
    <p:sldId xmlns:r="http://schemas.openxmlformats.org/officeDocument/2006/relationships" id="258" r:id="R865cd4472a244cc8"/>
    <p:sldId xmlns:r="http://schemas.openxmlformats.org/officeDocument/2006/relationships" id="259" r:id="R7c373e104def447c"/>
    <p:sldId xmlns:r="http://schemas.openxmlformats.org/officeDocument/2006/relationships" id="260" r:id="R18fa1beb405f41d4"/>
    <p:sldId xmlns:r="http://schemas.openxmlformats.org/officeDocument/2006/relationships" id="261" r:id="R465004dfbdd64d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5a4e6bf99f4fa2" /><Relationship Type="http://schemas.openxmlformats.org/officeDocument/2006/relationships/slideMaster" Target="/ppt/slideMasters/slideMaster1.xml" Id="R84e6bb3b31764994" /><Relationship Type="http://schemas.openxmlformats.org/officeDocument/2006/relationships/notesMaster" Target="/ppt/notesMasters/notesMaster1.xml" Id="R6be425e6b9104363" /><Relationship Type="http://schemas.openxmlformats.org/officeDocument/2006/relationships/presProps" Target="/ppt/presProps.xml" Id="R328b6777a2364fe7" /><Relationship Type="http://schemas.openxmlformats.org/officeDocument/2006/relationships/tableStyles" Target="/ppt/tableStyles.xml" Id="Rfcf23954c6d54641" /><Relationship Type="http://schemas.openxmlformats.org/officeDocument/2006/relationships/slide" Target="/ppt/slides/slide1.xml" Id="R5156c8df373543df" /><Relationship Type="http://schemas.openxmlformats.org/officeDocument/2006/relationships/slide" Target="/ppt/slides/slide2.xml" Id="R75297d17ebea416c" /><Relationship Type="http://schemas.openxmlformats.org/officeDocument/2006/relationships/slide" Target="/ppt/slides/slide3.xml" Id="R865cd4472a244cc8" /><Relationship Type="http://schemas.openxmlformats.org/officeDocument/2006/relationships/slide" Target="/ppt/slides/slide4.xml" Id="R7c373e104def447c" /><Relationship Type="http://schemas.openxmlformats.org/officeDocument/2006/relationships/slide" Target="/ppt/slides/slide5.xml" Id="R18fa1beb405f41d4" /><Relationship Type="http://schemas.openxmlformats.org/officeDocument/2006/relationships/slide" Target="/ppt/slides/slide6.xml" Id="R465004dfbdd64d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a88b6021474a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bfb7c3c9443a2" /><Relationship Type="http://schemas.openxmlformats.org/officeDocument/2006/relationships/notesMaster" Target="/ppt/notesMasters/notesMaster1.xml" Id="Ra2be441cf92f48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e4d82bc25b47b5" /><Relationship Type="http://schemas.openxmlformats.org/officeDocument/2006/relationships/notesMaster" Target="/ppt/notesMasters/notesMaster1.xml" Id="R2491fdcec5704d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463ab8896246ab" /><Relationship Type="http://schemas.openxmlformats.org/officeDocument/2006/relationships/notesMaster" Target="/ppt/notesMasters/notesMaster1.xml" Id="R040831b0451341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38a9f5f5ac4fd7" /><Relationship Type="http://schemas.openxmlformats.org/officeDocument/2006/relationships/notesMaster" Target="/ppt/notesMasters/notesMaster1.xml" Id="R3ea5afbd2c784b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61f90af4fb4c38" /><Relationship Type="http://schemas.openxmlformats.org/officeDocument/2006/relationships/notesMaster" Target="/ppt/notesMasters/notesMaster1.xml" Id="R97f668bd48bf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499700c3f541f4" /><Relationship Type="http://schemas.openxmlformats.org/officeDocument/2006/relationships/notesMaster" Target="/ppt/notesMasters/notesMaster1.xml" Id="R000a2840f7ba4b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Mini Gibson is a reproducible training and evaluation pipeline. We are not claiming a production-ready autonomous coding model. Source: repository README and docs/evidence/mini-gibson-v2-2026-10-18/REPORT.md.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Mini Gibson treats checking, recovery, and completion as part of the engineering system. Source: README.md and presentation/demo/README.md.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main artifact is the pipeline: trajectory preparation, LoRA specialization, locked evaluation, and immutable evidence. Source: docs/experiment-protocol.md, evaluation/, historical/, and docs/evidence/mini-gibson-successor-2026-10-18/PROTOCOL.md.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docs/evidence/mini-gibson-v2-2026-10-18/REPORT.md and summary.json. Base resolved 9/48; tuned resolved 16/48; one-sided exact paired p=0.0717316. Base malformed 8/48; tuned malformed 21/48; p=0.000488.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docs/evidence/mini-gibson-successor-2026-10-18/. Final values should read 34/456 checked, 30 compatible, 4 incompatible. This compatibility preflight ran no models, agents, parsers, tests, or formal comparisons.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docs/evidence/mini-gibson-successor-2026-10-18/CONTINUOUS-IMPROVEMENT.md. Langfuse and Jev are proposed post-run analysis additions. Hosted credentials and calls remain outside scored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5863f128f4c6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2a83a632140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31d65e9d54a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659fdb362425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81e949697479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58c38278f942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3481B8-C347-41C5-90CA-015EC5659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0FEB0E-AAA4-43FC-8672-2092822E21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BCC865-6525-4B9D-A60E-C50856220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79B3CC-FA2D-4374-AEF0-4FCF017A96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E1C5F82-CB6A-4FA8-BB65-CC86A5085F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89D06F-5E70-4DAB-A496-6F5E49AD6E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B3AF221-37A9-426E-9CF5-3AAB5DEC8D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B231156-C410-41DB-BBBF-2149B417F9E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05E33B-D745-4251-B1ED-60EA057226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8BE1F1-F1DE-4255-BDC0-9E3ACF988E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d7022c5ff7495c" /><Relationship Type="http://schemas.openxmlformats.org/officeDocument/2006/relationships/slideLayout" Target="/ppt/slideLayouts/slideLayout1.xml" Id="R7369a00e7a974f89" /><Relationship Type="http://schemas.openxmlformats.org/officeDocument/2006/relationships/slideLayout" Target="/ppt/slideLayouts/slideLayout2.xml" Id="Reaefdd42c39b40fd" /><Relationship Type="http://schemas.openxmlformats.org/officeDocument/2006/relationships/slideLayout" Target="/ppt/slideLayouts/slideLayout3.xml" Id="Rc99a4a5351ce4428" /><Relationship Type="http://schemas.openxmlformats.org/officeDocument/2006/relationships/slideLayout" Target="/ppt/slideLayouts/slideLayout4.xml" Id="R2b229f063b3844b8" /><Relationship Type="http://schemas.openxmlformats.org/officeDocument/2006/relationships/slideLayout" Target="/ppt/slideLayouts/slideLayout5.xml" Id="Rc888e55da2fb4124" /><Relationship Type="http://schemas.openxmlformats.org/officeDocument/2006/relationships/slideLayout" Target="/ppt/slideLayouts/slideLayout6.xml" Id="Rf5647c5e6f904a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69a00e7a974f89"/>
    <p:sldLayoutId xmlns:r="http://schemas.openxmlformats.org/officeDocument/2006/relationships" id="2147483650" r:id="Reaefdd42c39b40fd"/>
    <p:sldLayoutId xmlns:r="http://schemas.openxmlformats.org/officeDocument/2006/relationships" id="2147483651" r:id="Rc99a4a5351ce4428"/>
    <p:sldLayoutId xmlns:r="http://schemas.openxmlformats.org/officeDocument/2006/relationships" id="2147483652" r:id="R2b229f063b3844b8"/>
    <p:sldLayoutId xmlns:r="http://schemas.openxmlformats.org/officeDocument/2006/relationships" id="2147483653" r:id="Rc888e55da2fb4124"/>
    <p:sldLayoutId xmlns:r="http://schemas.openxmlformats.org/officeDocument/2006/relationships" id="2147483654" r:id="Rf5647c5e6f904a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6e64ff5f2d4e13" /><Relationship Type="http://schemas.openxmlformats.org/officeDocument/2006/relationships/image" Target="/ppt/media/image.png" Id="R37cb10a190ec404c" /><Relationship Type="http://schemas.openxmlformats.org/officeDocument/2006/relationships/image" Target="/ppt/media/image2.png" Id="R4c5e6843723a4a3d" /><Relationship Type="http://schemas.openxmlformats.org/officeDocument/2006/relationships/notesSlide" Target="/ppt/notesSlides/notesSlide1.xml" Id="R9d69ec0f2ffa49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78f48c219d406e" /><Relationship Type="http://schemas.openxmlformats.org/officeDocument/2006/relationships/image" Target="/ppt/media/image3.png" Id="R0811c24f407d4b1b" /><Relationship Type="http://schemas.openxmlformats.org/officeDocument/2006/relationships/notesSlide" Target="/ppt/notesSlides/notesSlide2.xml" Id="Rb31170b4b9544d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3c818a313b48b4" /><Relationship Type="http://schemas.openxmlformats.org/officeDocument/2006/relationships/notesSlide" Target="/ppt/notesSlides/notesSlide3.xml" Id="R1c22212b744344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8503aa76644c8c" /><Relationship Type="http://schemas.openxmlformats.org/officeDocument/2006/relationships/chart" Target="/ppt/slides/charts/chart1.xml" Id="Rf70aa44efdfe4f1a" /><Relationship Type="http://schemas.openxmlformats.org/officeDocument/2006/relationships/notesSlide" Target="/ppt/notesSlides/notesSlide4.xml" Id="Ra204b6d172714e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648c1100fa42e3" /><Relationship Type="http://schemas.openxmlformats.org/officeDocument/2006/relationships/notesSlide" Target="/ppt/notesSlides/notesSlide5.xml" Id="R18bf0df7093d4a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ddbb77366f4383" /><Relationship Type="http://schemas.openxmlformats.org/officeDocument/2006/relationships/image" Target="/ppt/media/image4.png" Id="R730cfea1d6a14b42" /><Relationship Type="http://schemas.openxmlformats.org/officeDocument/2006/relationships/image" Target="/ppt/media/image5.png" Id="Rcd692d95defe448f" /><Relationship Type="http://schemas.openxmlformats.org/officeDocument/2006/relationships/notesSlide" Target="/ppt/notesSlides/notesSlide6.xml" Id="Ra46b8ff1535c478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48 development issues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08101E"/>
              </a:solidFill>
              <a:latin typeface="Aptos Display"/>
              <a:ea typeface="Aptos Display"/>
              <a:cs typeface="Aptos Display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Base</c:v>
          </c:tx>
          <c:spPr>
            <a:solidFill xmlns:a="http://schemas.openxmlformats.org/drawingml/2006/main">
              <a:srgbClr val="08101E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Resolved issues</c:v>
                </c:pt>
                <c:pt idx="1">
                  <c:v>Malformed responses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9</c:v>
                </c:pt>
                <c:pt idx="1">
                  <c:v>8</c:v>
                </c:pt>
              </c:numCache>
            </c:numRef>
          </c:val>
        </c:ser>
        <c:ser>
          <c:idx val="1"/>
          <c:order val="1"/>
          <c:tx>
            <c:v>Fine-tuned</c:v>
          </c:tx>
          <c:spPr>
            <a:solidFill xmlns:a="http://schemas.openxmlformats.org/drawingml/2006/main">
              <a:srgbClr val="FF8F2D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Resolved issues</c:v>
                </c:pt>
                <c:pt idx="1">
                  <c:v>Malformed responses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16</c:v>
                </c:pt>
                <c:pt idx="1">
                  <c:v>21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235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9D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4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72235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169F4-B82F-43A2-B070-51306C985E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b10a190ec404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5FA39-9601-4623-9371-ABFB1CFF53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e6843723a4a3d"/>
          <a:stretch xmlns:a="http://schemas.openxmlformats.org/drawingml/2006/main"/>
        </p:blipFill>
        <p:spPr>
          <a:xfrm xmlns:a="http://schemas.openxmlformats.org/drawingml/2006/main">
            <a:off x="7810500" y="1390650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29F6B-9474-417F-85B3-198A1651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MINI GIBSON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021943-D58E-4871-B7C2-C3FDCDFA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638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A training pipeline for better coding agents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70730-6E45-4B25-9C32-3BB3D735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0EC"/>
                </a:solidFill>
                <a:latin typeface="Aptos"/>
                <a:ea typeface="Aptos"/>
                <a:cs typeface="Aptos"/>
              </a:rPr>
              <a:t>We trained, tested, found real limits, and kept the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898DA-9614-4BFB-BC54-CD35F29D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45355-2DA2-4557-81A2-5955010C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Mark Hinkle  /  John Willis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BD45B-8DFC-433D-A5F3-26060370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4C6"/>
                </a:solidFill>
                <a:latin typeface="Aptos"/>
                <a:ea typeface="Aptos"/>
                <a:cs typeface="Aptos"/>
              </a:rPr>
              <a:t>Hackathon submission • October 18, 2026</a:t>
            </a:r>
          </a:p>
        </p:txBody>
      </p:sp>
    </p:spTree>
    <p:extLst>
      <p:ext uri="{BB962C8B-B14F-4D97-AF65-F5344CB8AC3E}">
        <p14:creationId xmlns:p14="http://schemas.microsoft.com/office/powerpoint/2010/main" val="1941212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8CAB5-C50A-41BC-A022-F993E567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1CC5C-BB0E-4C94-852E-6BD3AA49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Generated code still leaves a human bottleneck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915E4F-24FB-4396-975F-8052B24C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C4674-7812-4BEA-BBDD-D2822A94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Models can propose code quickly.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C5723-3162-428F-81A9-C9AB2370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0958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Engineers still have to check the patch, run the right tests, recover from broken tool calls, and decide whether the work is actually done.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22E57-C9FB-4E06-9458-395CB34A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Our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EE8E5-A33A-479F-AC00-E6437A4E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5721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Can a small open model learn to finish more software work without making reliability worse?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952EE-A361-43DE-9E4B-10D27C0681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1c24f407d4b1b"/>
          <a:srcRect xmlns:a="http://schemas.openxmlformats.org/drawingml/2006/main" l="0" t="8654" r="0" b="86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6050" y="1238250"/>
            <a:ext cx="49530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45009-C1C6-4B07-8EB4-67A8445A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24500"/>
            <a:ext cx="495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A002C-6796-4BF3-A3B3-50DA7941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638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The evaluator, not the model, decides when work passes.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77103-16D8-43DE-94A2-E02BF334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AB2D15-4772-41E4-8F29-93FB2B1F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651233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6DBF7-3E75-4FEA-AE4C-338546E3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26EC4-9084-4530-8B6F-D906C76A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deliverable is the improvement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7FB94-6169-4E69-ABF2-6B8D0DAF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BD487-2ADA-4D69-AFA5-F0FC250B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72B1A-73A7-46FE-8D5D-A703DC2B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37160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Learn from real engineering trajectories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7CB7F-BA05-4820-BFEC-D948564C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52625"/>
            <a:ext cx="904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Successful fixes, failed attempts, tool errors, tests, and recovery steps become controlled training examples.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DDEDA-EE39-4739-8289-9F930C2C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15C"/>
          </a:solidFill>
          <a:ln xmlns:a="http://schemas.openxmlformats.org/drawingml/2006/main" w="0">
            <a:solidFill>
              <a:srgbClr val="3141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16DD7-C3DF-4B4A-90B5-10B1325C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FC2DC-428A-4D48-A561-686DE79C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908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Fine-tune Nemotron with a bounded LoRA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51B8C-1EDC-42A6-941E-7FF2D9E4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71875"/>
            <a:ext cx="904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Every dataset revision, model input, adapter, and training checkpoint gets a recorded identity.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03CB1-8C66-41AB-A7A1-0E30C74E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15C"/>
          </a:solidFill>
          <a:ln xmlns:a="http://schemas.openxmlformats.org/drawingml/2006/main" w="0">
            <a:solidFill>
              <a:srgbClr val="3141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4D572-69F8-41B1-93A8-E3A11D61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DA221-68FC-4579-B09E-845AF25A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1010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Compare models in the same locked evaluator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7196E-76DC-40F4-B1E9-139386E2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91125"/>
            <a:ext cx="904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Networkless execution, sealed holdouts, hash-chained receipts, and pre-set stop rules prevent us from grading our own homework.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F7A08-7491-4543-9C4A-888CCDC1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AC09DF-9167-4859-99AC-9B34123A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410042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AFBD7D-BF9B-4487-9421-D4D61E14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B1F88-A505-4B4D-BDC0-78592BC8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The first fine-tune showed promise and a warning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A445C-E091-4F34-9F84-5951DC8E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A6634840-2026-46BA-BC0D-50950F1124A2}"/>
              </a:ext>
            </a:extLst>
          </p:cNvPr>
          <p:cNvGraphicFramePr/>
          <p:nvPr/>
        </p:nvGraphicFramePr>
        <p:xfrm>
          <a:off xmlns:a="http://schemas.openxmlformats.org/drawingml/2006/main" x="647700" y="1352550"/>
          <a:ext xmlns:a="http://schemas.openxmlformats.org/drawingml/2006/main" cx="61912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0aa44efdfe4f1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00A9D-C030-4C72-80EE-1A3A4AB3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rPr>
              <a:t>+14.6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5EC07-A278-47F2-ACDA-B3C2032B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Issue resolution improved from 9 of 48 to 16 of 48.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7E6CD-E1E6-49D1-9D6C-92A238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95625"/>
            <a:ext cx="3381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D9B06-57F3-4C6D-88A3-A79A70DF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95650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But the statistical gate was not met (p = 0.0717), and malformed responses increased from 8 to 21.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D01DA-77D2-4605-A0C0-3CEF7219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14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9B2D2D"/>
                </a:solidFill>
                <a:latin typeface="Aptos"/>
                <a:ea typeface="Aptos"/>
                <a:cs typeface="Aptos"/>
              </a:rPr>
              <a:t>Decision: do not promote the adapter.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1A99B-1680-4615-9F98-E379E938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673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97589"/>
                </a:solidFill>
                <a:latin typeface="Aptos"/>
                <a:ea typeface="Aptos"/>
                <a:cs typeface="Aptos"/>
              </a:rPr>
              <a:t>Useful signal, not proof of a better model.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4F8C2-CB9C-4B88-8281-DAA56550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E7F25-A24B-4137-9FEC-6B599C00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19370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961F0-5DF2-4AC6-AF47-8DA069A1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89591-987D-42A3-9281-00BCC024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successor compatibility screen is still running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A3AB7-FA6E-469D-A954-2F37C8E6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8B634-9495-480D-A613-FD85660F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8D8CE1-6DF4-4E32-9507-54C3E417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of 456 checked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26A0B-B4E7-4805-8381-55C28C66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DF811-EA8F-4C46-80DD-5B8C0A00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compatible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52C5E-C103-4C45-B894-5FE17529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450E37-1130-48E3-B7DD-E5B9B601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incompatible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1EFE8-22EB-4EC5-BB28-67865CA1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00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745EC-7949-4FF9-BC70-25E31D2C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9334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At least one incompatibility already guarantees a stop before qualification, training, or model evaluation. The full 456-task matrix must finish before the terminal package is sealed.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57BBD-4DEE-48C9-A29A-290FAF12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19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The 35-task final holdout remains sealed. This preflight measures evaluator compatibility, not model quality.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745407-7A47-4507-AD7D-5BE37713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8EBB8-EC15-40AB-B314-2F3DD6DC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332569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50FCFA-BF78-4475-8E9F-848CE772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3F04F-44B6-448B-9514-476C7F71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What we are submitting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F669D-6F5B-41DB-A94C-AAE1D44F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0A1BA-53DE-4967-844D-A2923FD9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52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A repeatable way to make coding agents better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66DD7-69B8-4BDA-A493-D9157D9A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381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The repository contains the training-data preparation, bounded LoRA path, networkless evaluator, immutable evidence records, and the stop rules that kept us from overstating the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7C364-1C3B-4A62-B1E0-C7F605E8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CB420-DE21-4637-A111-4D09A9F6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Fine-tuning may improve issue resolution, but tool-call reliability must improve at the same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223DA-0ADC-4B87-B662-3B46E483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Next addition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DAAE3-48D9-49C1-A312-BE1836D5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Use Langfuse to analyze safe post-run traces and Jev to classify operational anomalies. Local tests still decide pass or fail.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C1A7E-355A-458A-A0A6-202FA7C7E3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cfea1d6a14b42"/>
          <a:stretch xmlns:a="http://schemas.openxmlformats.org/drawingml/2006/main"/>
        </p:blipFill>
        <p:spPr>
          <a:xfrm xmlns:a="http://schemas.openxmlformats.org/drawingml/2006/main">
            <a:off x="8667750" y="2289969"/>
            <a:ext cx="2381250" cy="563563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E6EFF-040D-45AF-A3DC-EBB555508B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92d95defe448f"/>
          <a:stretch xmlns:a="http://schemas.openxmlformats.org/drawingml/2006/main"/>
        </p:blipFill>
        <p:spPr>
          <a:xfrm xmlns:a="http://schemas.openxmlformats.org/drawingml/2006/main">
            <a:off x="9286875" y="3667125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69648-BEAE-470C-ABF9-F82EC230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6730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56444-3030-46EB-BB88-1CCE0D01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Observe after the run. Never change the score.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31FE0-9FDB-4ABF-9EFE-FC9CFA88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EA4F9-AB55-422E-9ADD-93727F2F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151377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2026-10-18T11:35:26.2220000Z</dcterms:created>
  <dcterms:modified xsi:type="dcterms:W3CDTF">2026-10-18T11:35:26.2220000Z</dcterms:modified>
</coreProperties>
</file>